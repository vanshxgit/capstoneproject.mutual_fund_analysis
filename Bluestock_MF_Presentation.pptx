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Bluestock Mutual Fund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Final Capstone Presentation</a:t>
            </a:r>
          </a:p>
          <a:p>
            <a:pPr>
              <a:spcAft>
                <a:spcPts val="1500"/>
              </a:spcAft>
              <a:defRPr sz="2000"/>
            </a:pPr>
            <a:r>
              <a:t>ETL • SQL • EDA • Performance • Advanced Analytics • Power BI</a:t>
            </a:r>
          </a:p>
          <a:p>
            <a:pPr>
              <a:spcAft>
                <a:spcPts val="1500"/>
              </a:spcAft>
              <a:defRPr sz="2000"/>
            </a:pPr>
            <a:r>
              <a:t>34 NAV-active schemes | 32,778 investor transactions | 322 holdings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Build an end-to-end mutual-fund analytics product.</a:t>
            </a:r>
          </a:p>
          <a:p>
            <a:pPr>
              <a:spcAft>
                <a:spcPts val="1500"/>
              </a:spcAft>
              <a:defRPr sz="2000"/>
            </a:pPr>
            <a:r>
              <a:t>Measure returns, risk-adjusted performance and downside risk.</a:t>
            </a:r>
          </a:p>
          <a:p>
            <a:pPr>
              <a:spcAft>
                <a:spcPts val="1500"/>
              </a:spcAft>
              <a:defRPr sz="2000"/>
            </a:pPr>
            <a:r>
              <a:t>Understand investor cohorts and SIP continuity.</a:t>
            </a:r>
          </a:p>
          <a:p>
            <a:pPr>
              <a:spcAft>
                <a:spcPts val="1500"/>
              </a:spcAft>
              <a:defRPr sz="2000"/>
            </a:pPr>
            <a:r>
              <a:t>Measure portfolio concentration and provide risk-based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Data Sources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10 canonical CSV datasets plus live NAV API integration.</a:t>
            </a:r>
          </a:p>
          <a:p>
            <a:pPr>
              <a:spcAft>
                <a:spcPts val="1500"/>
              </a:spcAft>
              <a:defRPr sz="2000"/>
            </a:pPr>
            <a:r>
              <a:t>35 metadata records; 34 schemes with usable NAV.</a:t>
            </a:r>
          </a:p>
          <a:p>
            <a:pPr>
              <a:spcAft>
                <a:spcPts val="1500"/>
              </a:spcAft>
              <a:defRPr sz="2000"/>
            </a:pPr>
            <a:r>
              <a:t>40 scheme-performance reference rows.</a:t>
            </a:r>
          </a:p>
          <a:p>
            <a:pPr>
              <a:spcAft>
                <a:spcPts val="1500"/>
              </a:spcAft>
              <a:defRPr sz="2000"/>
            </a:pPr>
            <a:r>
              <a:t>32,778 investor transactions.</a:t>
            </a:r>
          </a:p>
          <a:p>
            <a:pPr>
              <a:spcAft>
                <a:spcPts val="1500"/>
              </a:spcAft>
              <a:defRPr sz="2000"/>
            </a:pPr>
            <a:r>
              <a:t>322 portfolio holding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ETL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Historical CSVs → ingestion → cleaning/validation → live NAV → processed data → SQLite → analytics → Power BI.</a:t>
            </a:r>
          </a:p>
          <a:p>
            <a:pPr>
              <a:spcAft>
                <a:spcPts val="1500"/>
              </a:spcAft>
              <a:defRPr sz="2000"/>
            </a:pPr>
            <a:r>
              <a:t>Master pipeline stages: Data Ingestion, Live NAV Fetch, Preprocessing, Validation, SQLite Loading.</a:t>
            </a:r>
          </a:p>
          <a:p>
            <a:pPr>
              <a:spcAft>
                <a:spcPts val="1500"/>
              </a:spcAft>
              <a:defRPr sz="2000"/>
            </a:pPr>
            <a:r>
              <a:t>Final run completed all stages successfully.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EDA Highlights I</a:t>
            </a:r>
          </a:p>
        </p:txBody>
      </p:sp>
      <p:pic>
        <p:nvPicPr>
          <p:cNvPr id="3" name="Picture 2" descr="final_s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406640" cy="40275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41732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SBI Mutual Fund shows strong AUM scale in the supplied industry series.</a:t>
            </a:r>
          </a:p>
          <a:p>
            <a:pPr>
              <a:spcAft>
                <a:spcPts val="1200"/>
              </a:spcAft>
              <a:defRPr sz="1600"/>
            </a:pPr>
            <a:r>
              <a:t>Banking, IT and Pharma are the largest aggregated portfolio sectors.</a:t>
            </a:r>
          </a:p>
          <a:p>
            <a:pPr>
              <a:spcAft>
                <a:spcPts val="1200"/>
              </a:spcAft>
              <a:defRPr sz="1600"/>
            </a:pPr>
            <a:r>
              <a:t>Investor activity spans multiple age, gender and geographic segments.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EDA Highlights II</a:t>
            </a:r>
          </a:p>
        </p:txBody>
      </p:sp>
      <p:pic>
        <p:nvPicPr>
          <p:cNvPr id="3" name="Picture 2" descr="final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406640" cy="40339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41732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2024 is the dominant investor cohort in the supplied cohort analysis.</a:t>
            </a:r>
          </a:p>
          <a:p>
            <a:pPr>
              <a:spcAft>
                <a:spcPts val="1200"/>
              </a:spcAft>
              <a:defRPr sz="1600"/>
            </a:pPr>
            <a:r>
              <a:t>SIP activity forms a major part of transaction behaviour.</a:t>
            </a:r>
          </a:p>
          <a:p>
            <a:pPr>
              <a:spcAft>
                <a:spcPts val="1200"/>
              </a:spcAft>
              <a:defRPr sz="1600"/>
            </a:pPr>
            <a:r>
              <a:t>The project uses cohort and continuity analysis to move beyond simple fund rankings.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Performance Metrics I</a:t>
            </a:r>
          </a:p>
        </p:txBody>
      </p:sp>
      <p:pic>
        <p:nvPicPr>
          <p:cNvPr id="3" name="Picture 2" descr="final_top_3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406640" cy="40252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41732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Top 3-year return schemes are led by SBI Small Cap and ABSL Small Cap.</a:t>
            </a:r>
          </a:p>
          <a:p>
            <a:pPr>
              <a:spcAft>
                <a:spcPts val="1200"/>
              </a:spcAft>
              <a:defRPr sz="1600"/>
            </a:pPr>
            <a:r>
              <a:t>Absolute return leadership is not equivalent to risk-adjusted leadership.</a:t>
            </a:r>
          </a:p>
          <a:p>
            <a:pPr>
              <a:spcAft>
                <a:spcPts val="1200"/>
              </a:spcAft>
              <a:defRPr sz="1600"/>
            </a:pPr>
            <a:r>
              <a:t>CAGR is calculated over 1-, 3- and 5-year horizons.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Performance Metrics II</a:t>
            </a:r>
          </a:p>
        </p:txBody>
      </p:sp>
      <p:pic>
        <p:nvPicPr>
          <p:cNvPr id="3" name="Picture 2" descr="final_top_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406640" cy="40252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41732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Sharpe and Sortino capture risk-adjusted performance.</a:t>
            </a:r>
          </a:p>
          <a:p>
            <a:pPr>
              <a:spcAft>
                <a:spcPts val="1200"/>
              </a:spcAft>
              <a:defRPr sz="1600"/>
            </a:pPr>
            <a:r>
              <a:t>VaR/CVaR quantify downside-tail behaviour.</a:t>
            </a:r>
          </a:p>
          <a:p>
            <a:pPr>
              <a:spcAft>
                <a:spcPts val="1200"/>
              </a:spcAft>
              <a:defRPr sz="1600"/>
            </a:pPr>
            <a:r>
              <a:t>Alpha/Beta regression uses NIFTY100 overlap; 29 schemes have sufficient observations.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Power BI Dashboard — Executive &amp; Fund Performance</a:t>
            </a:r>
          </a:p>
        </p:txBody>
      </p:sp>
      <p:pic>
        <p:nvPicPr>
          <p:cNvPr id="3" name="Picture 2" descr="nav_trend_2022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406640" cy="7406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41732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PBIX contains four pages.</a:t>
            </a:r>
          </a:p>
          <a:p>
            <a:pPr>
              <a:spcAft>
                <a:spcPts val="1200"/>
              </a:spcAft>
              <a:defRPr sz="1600"/>
            </a:pPr>
            <a:r>
              <a:t>Executive Overview: 11 visuals.</a:t>
            </a:r>
          </a:p>
          <a:p>
            <a:pPr>
              <a:spcAft>
                <a:spcPts val="1200"/>
              </a:spcAft>
              <a:defRPr sz="1600"/>
            </a:pPr>
            <a:r>
              <a:t>Fund Performance: 6 visuals.</a:t>
            </a:r>
          </a:p>
          <a:p>
            <a:pPr>
              <a:spcAft>
                <a:spcPts val="1200"/>
              </a:spcAft>
              <a:defRPr sz="1600"/>
            </a:pPr>
            <a:r>
              <a:t>Interactive slicers are present in the dashboard layout.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Power BI Dashboard — Investor &amp; Portfolio</a:t>
            </a:r>
          </a:p>
        </p:txBody>
      </p:sp>
      <p:pic>
        <p:nvPicPr>
          <p:cNvPr id="3" name="Picture 2" descr="sector_hhi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406640" cy="5545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41732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Investor Analysis: 7 visuals.</a:t>
            </a:r>
          </a:p>
          <a:p>
            <a:pPr>
              <a:spcAft>
                <a:spcPts val="1200"/>
              </a:spcAft>
              <a:defRPr sz="1600"/>
            </a:pPr>
            <a:r>
              <a:t>Portfolio &amp; Market: 5 visuals.</a:t>
            </a:r>
          </a:p>
          <a:p>
            <a:pPr>
              <a:spcAft>
                <a:spcPts val="1200"/>
              </a:spcAft>
              <a:defRPr sz="1600"/>
            </a:pPr>
            <a:r>
              <a:t>Portfolio page includes holdings, sector concentration and market context.</a:t>
            </a:r>
          </a:p>
          <a:p>
            <a:pPr>
              <a:spcAft>
                <a:spcPts val="1200"/>
              </a:spcAft>
              <a:defRPr sz="1600"/>
            </a:pPr>
            <a:r>
              <a:t>The supplied PBIX is the interactive dashboard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1. Small-cap funds lead absolute 3-year returns but carry higher risk grades.</a:t>
            </a:r>
          </a:p>
          <a:p>
            <a:pPr>
              <a:spcAft>
                <a:spcPts val="1500"/>
              </a:spcAft>
              <a:defRPr sz="2000"/>
            </a:pPr>
            <a:r>
              <a:t>2. Liquid/debt schemes dominate risk-adjusted Sharpe rankings.</a:t>
            </a:r>
          </a:p>
          <a:p>
            <a:pPr>
              <a:spcAft>
                <a:spcPts val="1500"/>
              </a:spcAft>
              <a:defRPr sz="2000"/>
            </a:pPr>
            <a:r>
              <a:t>3. Highest historical VaR is about -2.01%, with CVaR about -3.21%.</a:t>
            </a:r>
          </a:p>
          <a:p>
            <a:pPr>
              <a:spcAft>
                <a:spcPts val="1500"/>
              </a:spcAft>
              <a:defRPr sz="2000"/>
            </a:pPr>
            <a:r>
              <a:t>4. All 38 eligible 6+ SIP investors are flagged At-Risk under the 35-day rule.</a:t>
            </a:r>
          </a:p>
          <a:p>
            <a:pPr>
              <a:spcAft>
                <a:spcPts val="1500"/>
              </a:spcAft>
              <a:defRPr sz="2000"/>
            </a:pPr>
            <a:r>
              <a:t>5. Sector HHI highlights meaningful concentration differences.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Final deliverables: Final_Report.pdf, Bluestock_MF_Presentation.pptx and cleaned GitHub repository.</a:t>
            </a:r>
          </a:p>
          <a:p>
            <a:pPr>
              <a:spcAft>
                <a:spcPts val="1500"/>
              </a:spcAft>
              <a:defRPr sz="2000"/>
            </a:pPr>
            <a:r>
              <a:t>Release target: v1.0</a:t>
            </a:r>
          </a:p>
          <a:p>
            <a:pPr>
              <a:spcAft>
                <a:spcPts val="1500"/>
              </a:spcAft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